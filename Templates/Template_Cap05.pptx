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1620"/>
    <a:srgbClr val="262B33"/>
    <a:srgbClr val="7F7F7F"/>
    <a:srgbClr val="FFFFFF"/>
    <a:srgbClr val="385723"/>
    <a:srgbClr val="843C0C"/>
    <a:srgbClr val="090B0E"/>
    <a:srgbClr val="F4E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B1DAE-A77D-5EC6-4AA0-33C7F2AE0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E449B0-E029-EB34-942B-508C71ABE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BC1713-5CE0-6D26-FF07-3479651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E98649-1AB5-3AA2-EABD-FA43B407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C09AB-914E-AAF7-D48A-0E1C9DF6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84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1785C8-9660-EEBF-63A9-A7E190360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4A71D2-4ABA-DA99-0B38-FD2386128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DCAB55-3EC9-E914-4FB2-B2C16D5CA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DDEB2A-25DF-2514-98ED-9E66EF711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44734E-2FF4-25CD-D3C8-5C01431D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71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47D50-E85E-9D83-1965-227C1BD3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B0BBE45-2EEA-437F-E42D-A0A2071F1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AAA855-1A52-FFCE-90E6-FFA051DD2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86290D-AC97-6321-AE59-474F47796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E8FBB9-573F-916E-885F-461B6C27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51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333DFC-B77D-BBD2-9A92-F0E2CF3C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62E49-0E4C-AD5B-B74E-A7D0B067B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5192B0-BAF5-93C3-3FFB-34F052A46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B9A935A-E23E-4383-BBE8-5FA26E680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375164-17FF-A77A-2081-A2F4C9B4A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84FE15F-7249-2A41-F5C9-96204277C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7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6552F-C64B-E1FD-FDB4-826B3D9F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1DD722-2F6B-CCB8-DCFC-96E6F58E6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5C1159-0130-5578-8A79-15E5C86B2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CA03987-F4B6-229E-3F55-A9BC2DA7DC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188891-1EAB-9515-A604-D2BECD02A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C320C16-4CAC-9892-991B-B8AFB69F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32DCD02-0F3E-3D50-FE8E-4D76B5101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9108A4-BEF3-7741-1AD2-F01BF7C2A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65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AF207B-D776-61D2-3D02-63170D2F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A63B01-6A8E-A67C-3B27-7563B819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11282EF-F290-C242-1A57-6BD52196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96557BA-AC87-D335-E058-BF9A8341E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9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58FE18-44AE-5EFE-C123-9C379CC7F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5A42E0C-D40E-6360-54AB-715A3C6CA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C49B17-522A-91E2-98E7-6184B5F63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07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D6CBE-DE4E-BEC0-F234-20A0AC777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565F9B-2AB4-3446-D6A4-620212996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E71E61D-369C-96BD-0DE1-9456719CE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23902D-9223-51C0-9708-D9F7CB72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F583AF-A6B6-B069-C45E-5DC2D3845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7A7EA4-6CD0-9F86-9746-6DBBD89B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18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1C5221-AED5-E6ED-F324-A14F1A71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6E6C813-BA34-C22B-05F5-D6480C57B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E61DD8-A67B-DA50-5D02-BE951C301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9A4AD4-577D-7439-2C4F-12DBC791F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88315DE-7C8D-9BC5-533A-72CAC326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33FF25-9384-2799-8D3C-53FCB0C9A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21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A40DB-07A5-884B-FAFA-AE8D484AA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EDC769-E417-1C1A-DFDC-3AE7CE6BD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99E4E8-7803-C476-67D5-BC84686EF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4F2B26-109F-44A0-825C-E51FA55D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12A959-11E5-4D75-031D-7F1995495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1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CA72DB-B801-81BC-5A87-FEA4CB977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F85342-27CE-1D5C-D1F0-C1C0231E0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3B32C1-98BB-E52D-0507-AE1927EC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4DEFA7-9BBD-B608-17CE-3DB39104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133034-C579-D3C2-3FE7-33817F7E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17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33AC9EA-6629-59BB-440A-9874D03E5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B338E8-701D-3F9B-94E1-190407A74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C164E5-9BB2-3B79-9D3D-9DD467BAF5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079E67-1B4E-4E05-BF2B-5AFECBBC33A1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D88E7C-A582-2D5E-5764-681C2B40F8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E41895-980E-6D73-2864-ACC87B3F27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B01E0-D421-40BF-8E64-A83BC5A2A3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47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34528E0-45E3-5FD3-12D7-C59F2BB728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5" name="Retângulo: Único Canto Arredondado 4">
            <a:extLst>
              <a:ext uri="{FF2B5EF4-FFF2-40B4-BE49-F238E27FC236}">
                <a16:creationId xmlns:a16="http://schemas.microsoft.com/office/drawing/2014/main" id="{0CD24B42-5BEA-0D1C-3F18-15378C338B4F}"/>
              </a:ext>
            </a:extLst>
          </p:cNvPr>
          <p:cNvSpPr/>
          <p:nvPr/>
        </p:nvSpPr>
        <p:spPr>
          <a:xfrm rot="5400000">
            <a:off x="1617561" y="-1617563"/>
            <a:ext cx="3285002" cy="6520126"/>
          </a:xfrm>
          <a:prstGeom prst="round1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FF5C0D77-C44E-DDAA-EE0E-08A56B486FD2}"/>
              </a:ext>
            </a:extLst>
          </p:cNvPr>
          <p:cNvSpPr/>
          <p:nvPr/>
        </p:nvSpPr>
        <p:spPr>
          <a:xfrm rot="16200000">
            <a:off x="1905563" y="1955437"/>
            <a:ext cx="2997000" cy="6232125"/>
          </a:xfrm>
          <a:prstGeom prst="round2Same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61A5CC2-46D2-1439-85D5-E66795D890FA}"/>
              </a:ext>
            </a:extLst>
          </p:cNvPr>
          <p:cNvSpPr/>
          <p:nvPr/>
        </p:nvSpPr>
        <p:spPr>
          <a:xfrm>
            <a:off x="0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6E7D8A6-556E-4FE0-07D5-AEBE42E7FC21}"/>
              </a:ext>
            </a:extLst>
          </p:cNvPr>
          <p:cNvSpPr/>
          <p:nvPr/>
        </p:nvSpPr>
        <p:spPr>
          <a:xfrm>
            <a:off x="11904000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0FEE88B3-20CD-1EA2-033B-EF5F42354ACB}"/>
              </a:ext>
            </a:extLst>
          </p:cNvPr>
          <p:cNvSpPr/>
          <p:nvPr/>
        </p:nvSpPr>
        <p:spPr>
          <a:xfrm rot="16200000">
            <a:off x="2832502" y="2666629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D6A238C-4FA5-FB13-1539-D3747B2437D8}"/>
              </a:ext>
            </a:extLst>
          </p:cNvPr>
          <p:cNvSpPr/>
          <p:nvPr/>
        </p:nvSpPr>
        <p:spPr>
          <a:xfrm rot="16200000">
            <a:off x="3011534" y="5951629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6A9147-F5D1-24B4-C241-92FF6537FC2C}"/>
              </a:ext>
            </a:extLst>
          </p:cNvPr>
          <p:cNvSpPr/>
          <p:nvPr/>
        </p:nvSpPr>
        <p:spPr>
          <a:xfrm>
            <a:off x="6520123" y="1031767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3A301B2-793D-C6EA-89D7-14383EDDF90B}"/>
              </a:ext>
            </a:extLst>
          </p:cNvPr>
          <p:cNvSpPr/>
          <p:nvPr/>
        </p:nvSpPr>
        <p:spPr>
          <a:xfrm rot="16200000">
            <a:off x="9181515" y="-618373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9EF84B8E-7CC9-6571-D387-9AF3EE44E276}"/>
              </a:ext>
            </a:extLst>
          </p:cNvPr>
          <p:cNvSpPr/>
          <p:nvPr/>
        </p:nvSpPr>
        <p:spPr>
          <a:xfrm>
            <a:off x="6520123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tângulo: Cantos Superiores Arredondados 16">
            <a:extLst>
              <a:ext uri="{FF2B5EF4-FFF2-40B4-BE49-F238E27FC236}">
                <a16:creationId xmlns:a16="http://schemas.microsoft.com/office/drawing/2014/main" id="{52526036-3930-1769-78BD-872E09FC5762}"/>
              </a:ext>
            </a:extLst>
          </p:cNvPr>
          <p:cNvSpPr/>
          <p:nvPr/>
        </p:nvSpPr>
        <p:spPr>
          <a:xfrm rot="5400000">
            <a:off x="7857559" y="2523563"/>
            <a:ext cx="2997001" cy="5095878"/>
          </a:xfrm>
          <a:prstGeom prst="round2Same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E9C7BAD-C1EC-9A7D-53A0-7B2477E201B2}"/>
              </a:ext>
            </a:extLst>
          </p:cNvPr>
          <p:cNvSpPr/>
          <p:nvPr/>
        </p:nvSpPr>
        <p:spPr>
          <a:xfrm>
            <a:off x="6808123" y="287998"/>
            <a:ext cx="5095877" cy="2997001"/>
          </a:xfrm>
          <a:prstGeom prst="round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B614F8C-63C1-CCFB-2470-C84EA482CFD3}"/>
              </a:ext>
            </a:extLst>
          </p:cNvPr>
          <p:cNvSpPr txBox="1"/>
          <p:nvPr/>
        </p:nvSpPr>
        <p:spPr>
          <a:xfrm>
            <a:off x="598672" y="287997"/>
            <a:ext cx="194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Narrativa Inteligente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7FFE5CF-0B19-274E-8F36-7108201D1256}"/>
              </a:ext>
            </a:extLst>
          </p:cNvPr>
          <p:cNvSpPr txBox="1"/>
          <p:nvPr/>
        </p:nvSpPr>
        <p:spPr>
          <a:xfrm>
            <a:off x="7137810" y="287997"/>
            <a:ext cx="3317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Segmento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07228C7-46E1-8BFB-8D83-F15C20E4CC98}"/>
              </a:ext>
            </a:extLst>
          </p:cNvPr>
          <p:cNvSpPr txBox="1"/>
          <p:nvPr/>
        </p:nvSpPr>
        <p:spPr>
          <a:xfrm>
            <a:off x="7097527" y="3574227"/>
            <a:ext cx="3273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Categoria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13AB9B-1477-85F7-D5D2-73F8A2C73B8E}"/>
              </a:ext>
            </a:extLst>
          </p:cNvPr>
          <p:cNvSpPr txBox="1"/>
          <p:nvPr/>
        </p:nvSpPr>
        <p:spPr>
          <a:xfrm>
            <a:off x="596738" y="3574227"/>
            <a:ext cx="3335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Fabricante</a:t>
            </a:r>
          </a:p>
        </p:txBody>
      </p:sp>
    </p:spTree>
    <p:extLst>
      <p:ext uri="{BB962C8B-B14F-4D97-AF65-F5344CB8AC3E}">
        <p14:creationId xmlns:p14="http://schemas.microsoft.com/office/powerpoint/2010/main" val="2327094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7DFDB-93A5-4B93-4ED1-0F7D9E29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72889EC-34B3-1529-A29A-5DA15017AA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5" name="Retângulo: Único Canto Arredondado 4">
            <a:extLst>
              <a:ext uri="{FF2B5EF4-FFF2-40B4-BE49-F238E27FC236}">
                <a16:creationId xmlns:a16="http://schemas.microsoft.com/office/drawing/2014/main" id="{5648740A-ACD5-0DC5-014E-50A428C98DCE}"/>
              </a:ext>
            </a:extLst>
          </p:cNvPr>
          <p:cNvSpPr/>
          <p:nvPr/>
        </p:nvSpPr>
        <p:spPr>
          <a:xfrm rot="5400000">
            <a:off x="1617561" y="-1617563"/>
            <a:ext cx="3285002" cy="6520126"/>
          </a:xfrm>
          <a:prstGeom prst="round1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6" name="Retângulo: Cantos Superiores Arredondados 5">
            <a:extLst>
              <a:ext uri="{FF2B5EF4-FFF2-40B4-BE49-F238E27FC236}">
                <a16:creationId xmlns:a16="http://schemas.microsoft.com/office/drawing/2014/main" id="{FC69A9F6-1EC8-ECA7-DD75-826E392EC5F1}"/>
              </a:ext>
            </a:extLst>
          </p:cNvPr>
          <p:cNvSpPr/>
          <p:nvPr/>
        </p:nvSpPr>
        <p:spPr>
          <a:xfrm rot="16200000">
            <a:off x="1905563" y="1955437"/>
            <a:ext cx="2997000" cy="6232125"/>
          </a:xfrm>
          <a:prstGeom prst="round2Same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7" name="Retângulo: Cantos Superiores Arredondados 16">
            <a:extLst>
              <a:ext uri="{FF2B5EF4-FFF2-40B4-BE49-F238E27FC236}">
                <a16:creationId xmlns:a16="http://schemas.microsoft.com/office/drawing/2014/main" id="{71EA19BB-FD77-2B33-277A-5DB465D0E0B8}"/>
              </a:ext>
            </a:extLst>
          </p:cNvPr>
          <p:cNvSpPr/>
          <p:nvPr/>
        </p:nvSpPr>
        <p:spPr>
          <a:xfrm rot="5400000">
            <a:off x="7857559" y="2523563"/>
            <a:ext cx="2997001" cy="5095878"/>
          </a:xfrm>
          <a:prstGeom prst="round2Same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98EAB103-3700-DA1C-CDE1-752109E1ED25}"/>
              </a:ext>
            </a:extLst>
          </p:cNvPr>
          <p:cNvSpPr/>
          <p:nvPr/>
        </p:nvSpPr>
        <p:spPr>
          <a:xfrm>
            <a:off x="6808123" y="287998"/>
            <a:ext cx="5095877" cy="2997001"/>
          </a:xfrm>
          <a:prstGeom prst="round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609D16A-00E5-4760-B277-C5AC406C3281}"/>
              </a:ext>
            </a:extLst>
          </p:cNvPr>
          <p:cNvSpPr txBox="1"/>
          <p:nvPr/>
        </p:nvSpPr>
        <p:spPr>
          <a:xfrm>
            <a:off x="598672" y="287997"/>
            <a:ext cx="19454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Narrativa Inteligente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A403DE5-9D9D-B469-3827-1B0933A544C8}"/>
              </a:ext>
            </a:extLst>
          </p:cNvPr>
          <p:cNvSpPr txBox="1"/>
          <p:nvPr/>
        </p:nvSpPr>
        <p:spPr>
          <a:xfrm>
            <a:off x="7137810" y="287997"/>
            <a:ext cx="3317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Segmento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FA94293-3806-9C2D-481D-61A666CDE242}"/>
              </a:ext>
            </a:extLst>
          </p:cNvPr>
          <p:cNvSpPr txBox="1"/>
          <p:nvPr/>
        </p:nvSpPr>
        <p:spPr>
          <a:xfrm>
            <a:off x="7097527" y="3574227"/>
            <a:ext cx="32734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Categoria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87CEB7-2E23-79B7-61F2-202C2E877D77}"/>
              </a:ext>
            </a:extLst>
          </p:cNvPr>
          <p:cNvSpPr txBox="1"/>
          <p:nvPr/>
        </p:nvSpPr>
        <p:spPr>
          <a:xfrm>
            <a:off x="596738" y="3574227"/>
            <a:ext cx="33354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noProof="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Valor Total das Vendas Por Fabricante</a:t>
            </a:r>
          </a:p>
        </p:txBody>
      </p:sp>
    </p:spTree>
    <p:extLst>
      <p:ext uri="{BB962C8B-B14F-4D97-AF65-F5344CB8AC3E}">
        <p14:creationId xmlns:p14="http://schemas.microsoft.com/office/powerpoint/2010/main" val="1755920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D51F1-5976-E845-161D-7370AE089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44F8668-CC95-5FE7-40FB-F9789765C4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F3477C7-FDF8-A077-F450-A8A3BFE31F66}"/>
              </a:ext>
            </a:extLst>
          </p:cNvPr>
          <p:cNvSpPr/>
          <p:nvPr/>
        </p:nvSpPr>
        <p:spPr>
          <a:xfrm>
            <a:off x="0" y="3304972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2A33B3-A731-6901-98C0-8CB613F44E8A}"/>
              </a:ext>
            </a:extLst>
          </p:cNvPr>
          <p:cNvSpPr/>
          <p:nvPr/>
        </p:nvSpPr>
        <p:spPr>
          <a:xfrm>
            <a:off x="11904000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9B1E142-B028-F90F-1C9A-7C52C78F9562}"/>
              </a:ext>
            </a:extLst>
          </p:cNvPr>
          <p:cNvSpPr/>
          <p:nvPr/>
        </p:nvSpPr>
        <p:spPr>
          <a:xfrm rot="16200000">
            <a:off x="3011534" y="5951629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228484DE-27B6-089C-76CB-211CD2B9281F}"/>
              </a:ext>
            </a:extLst>
          </p:cNvPr>
          <p:cNvSpPr/>
          <p:nvPr/>
        </p:nvSpPr>
        <p:spPr>
          <a:xfrm rot="10800000">
            <a:off x="0" y="-2"/>
            <a:ext cx="12192000" cy="648072"/>
          </a:xfrm>
          <a:prstGeom prst="round2Same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FA41CB-9EB9-CEA9-2AA4-8DF1F8B96DEF}"/>
              </a:ext>
            </a:extLst>
          </p:cNvPr>
          <p:cNvSpPr txBox="1"/>
          <p:nvPr/>
        </p:nvSpPr>
        <p:spPr>
          <a:xfrm>
            <a:off x="288000" y="142875"/>
            <a:ext cx="3600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Vendas por Categoria e Pontos de Venda</a:t>
            </a:r>
            <a:endParaRPr lang="pt-BR" sz="14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17A1CCB-6385-6070-9C9F-2A909C0D291C}"/>
              </a:ext>
            </a:extLst>
          </p:cNvPr>
          <p:cNvSpPr/>
          <p:nvPr/>
        </p:nvSpPr>
        <p:spPr>
          <a:xfrm rot="16200000">
            <a:off x="6046149" y="29700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9336087-A5D5-86B0-4ACC-C2EFFAEDEE41}"/>
              </a:ext>
            </a:extLst>
          </p:cNvPr>
          <p:cNvSpPr/>
          <p:nvPr/>
        </p:nvSpPr>
        <p:spPr>
          <a:xfrm>
            <a:off x="145256" y="790575"/>
            <a:ext cx="11901742" cy="5924550"/>
          </a:xfrm>
          <a:prstGeom prst="roundRect">
            <a:avLst>
              <a:gd name="adj" fmla="val 7676"/>
            </a:avLst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58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E76C-8E43-4F0C-6B35-6D0157E54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CEA8FAB4-71D7-6980-3448-14979927B8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5D08CDE0-0A05-BF8A-E1FE-1B98774C466E}"/>
              </a:ext>
            </a:extLst>
          </p:cNvPr>
          <p:cNvSpPr/>
          <p:nvPr/>
        </p:nvSpPr>
        <p:spPr>
          <a:xfrm rot="10800000">
            <a:off x="0" y="-2"/>
            <a:ext cx="12192000" cy="648072"/>
          </a:xfrm>
          <a:prstGeom prst="round2Same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BDD043A-F801-44C6-BD6C-C259E2004D08}"/>
              </a:ext>
            </a:extLst>
          </p:cNvPr>
          <p:cNvSpPr txBox="1"/>
          <p:nvPr/>
        </p:nvSpPr>
        <p:spPr>
          <a:xfrm>
            <a:off x="288000" y="142875"/>
            <a:ext cx="36001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Vendas por Categoria e Pontos de Venda</a:t>
            </a:r>
            <a:endParaRPr lang="pt-BR" sz="14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B9F841AF-8FF7-D5D2-D934-133D74639CD2}"/>
              </a:ext>
            </a:extLst>
          </p:cNvPr>
          <p:cNvSpPr/>
          <p:nvPr/>
        </p:nvSpPr>
        <p:spPr>
          <a:xfrm>
            <a:off x="145256" y="790575"/>
            <a:ext cx="11901742" cy="5924550"/>
          </a:xfrm>
          <a:prstGeom prst="roundRect">
            <a:avLst>
              <a:gd name="adj" fmla="val 7676"/>
            </a:avLst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48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C7B2D-9624-65C6-194E-DA858CFC2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86760EF-8CED-DD62-6477-3D9F6C4DE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B0A89023-C0F0-E1F9-A2FD-1CAD666552A7}"/>
              </a:ext>
            </a:extLst>
          </p:cNvPr>
          <p:cNvSpPr/>
          <p:nvPr/>
        </p:nvSpPr>
        <p:spPr>
          <a:xfrm rot="10800000">
            <a:off x="0" y="-2"/>
            <a:ext cx="12192000" cy="648072"/>
          </a:xfrm>
          <a:prstGeom prst="round2Same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474C3A-63B7-C9A0-5012-3DB662C27D9C}"/>
              </a:ext>
            </a:extLst>
          </p:cNvPr>
          <p:cNvSpPr txBox="1"/>
          <p:nvPr/>
        </p:nvSpPr>
        <p:spPr>
          <a:xfrm>
            <a:off x="288000" y="142875"/>
            <a:ext cx="3676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>
                <a:latin typeface="Segoe UI" panose="020B0502040204020203" pitchFamily="34" charset="0"/>
                <a:cs typeface="Segoe UI" panose="020B0502040204020203" pitchFamily="34" charset="0"/>
              </a:rPr>
              <a:t>Performance dos Vendedores por Região</a:t>
            </a:r>
            <a:endParaRPr lang="pt-BR" sz="14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1D6DADD-CED0-0310-ACE0-482508D6A5FA}"/>
              </a:ext>
            </a:extLst>
          </p:cNvPr>
          <p:cNvSpPr/>
          <p:nvPr/>
        </p:nvSpPr>
        <p:spPr>
          <a:xfrm>
            <a:off x="145256" y="790575"/>
            <a:ext cx="11901742" cy="5924550"/>
          </a:xfrm>
          <a:prstGeom prst="roundRect">
            <a:avLst>
              <a:gd name="adj" fmla="val 7676"/>
            </a:avLst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682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8D257-D5FB-5A77-B627-26D87DF9E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1CBD1CC-FF9A-3881-9BC8-490F841620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18649BE-016D-265C-BB64-334F4654F8A9}"/>
              </a:ext>
            </a:extLst>
          </p:cNvPr>
          <p:cNvSpPr/>
          <p:nvPr/>
        </p:nvSpPr>
        <p:spPr>
          <a:xfrm>
            <a:off x="0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C5A585B-5BC8-CD36-A8B0-62D1BD8C8093}"/>
              </a:ext>
            </a:extLst>
          </p:cNvPr>
          <p:cNvSpPr/>
          <p:nvPr/>
        </p:nvSpPr>
        <p:spPr>
          <a:xfrm>
            <a:off x="11904000" y="4316766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91A1BAF7-4051-7D39-E858-C9A7115655E5}"/>
              </a:ext>
            </a:extLst>
          </p:cNvPr>
          <p:cNvSpPr/>
          <p:nvPr/>
        </p:nvSpPr>
        <p:spPr>
          <a:xfrm rot="16200000">
            <a:off x="3011534" y="5951629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A9C37A7-D8FB-2FA6-9804-E85FC06FC70D}"/>
              </a:ext>
            </a:extLst>
          </p:cNvPr>
          <p:cNvSpPr/>
          <p:nvPr/>
        </p:nvSpPr>
        <p:spPr>
          <a:xfrm rot="16200000">
            <a:off x="5901749" y="1504404"/>
            <a:ext cx="288000" cy="152474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593C56C6-9EBD-6A25-E78D-19758BBD2653}"/>
              </a:ext>
            </a:extLst>
          </p:cNvPr>
          <p:cNvSpPr/>
          <p:nvPr/>
        </p:nvSpPr>
        <p:spPr>
          <a:xfrm rot="10800000">
            <a:off x="0" y="-2"/>
            <a:ext cx="12192000" cy="2112887"/>
          </a:xfrm>
          <a:prstGeom prst="round2Same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F226C42-8DC8-154C-B3D1-42FFF29C9C30}"/>
              </a:ext>
            </a:extLst>
          </p:cNvPr>
          <p:cNvSpPr txBox="1"/>
          <p:nvPr/>
        </p:nvSpPr>
        <p:spPr>
          <a:xfrm>
            <a:off x="1444470" y="431105"/>
            <a:ext cx="9303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Mini-projeto</a:t>
            </a:r>
            <a:r>
              <a:rPr lang="pt-BR" sz="3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 2</a:t>
            </a:r>
            <a:br>
              <a:rPr lang="pt-BR" sz="3200" b="1" noProof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Comercial – Performance de Vendas</a:t>
            </a:r>
            <a:endParaRPr lang="pt-BR" sz="32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65EE34B-4D7C-D100-7181-97A180A8AE2F}"/>
              </a:ext>
            </a:extLst>
          </p:cNvPr>
          <p:cNvSpPr/>
          <p:nvPr/>
        </p:nvSpPr>
        <p:spPr>
          <a:xfrm>
            <a:off x="288000" y="2420663"/>
            <a:ext cx="11616000" cy="4149336"/>
          </a:xfrm>
          <a:prstGeom prst="round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145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D2A1A-C080-777C-8949-8F3D3370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29BE2319-75A6-2AE8-8707-243DC07462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62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>
              <a:solidFill>
                <a:srgbClr val="090B0E"/>
              </a:solidFill>
            </a:endParaRPr>
          </a:p>
        </p:txBody>
      </p:sp>
      <p:sp>
        <p:nvSpPr>
          <p:cNvPr id="3" name="Retângulo: Cantos Superiores Arredondados 2">
            <a:extLst>
              <a:ext uri="{FF2B5EF4-FFF2-40B4-BE49-F238E27FC236}">
                <a16:creationId xmlns:a16="http://schemas.microsoft.com/office/drawing/2014/main" id="{BFAC2D14-3D40-B9E2-DCFE-4143BD208919}"/>
              </a:ext>
            </a:extLst>
          </p:cNvPr>
          <p:cNvSpPr/>
          <p:nvPr/>
        </p:nvSpPr>
        <p:spPr>
          <a:xfrm rot="10800000">
            <a:off x="0" y="-2"/>
            <a:ext cx="12192000" cy="2112887"/>
          </a:xfrm>
          <a:prstGeom prst="round2SameRect">
            <a:avLst/>
          </a:prstGeom>
          <a:solidFill>
            <a:srgbClr val="F4ECD6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EFC02D3-9814-B995-ABF5-77F483CF9B9A}"/>
              </a:ext>
            </a:extLst>
          </p:cNvPr>
          <p:cNvSpPr txBox="1"/>
          <p:nvPr/>
        </p:nvSpPr>
        <p:spPr>
          <a:xfrm>
            <a:off x="1444470" y="431105"/>
            <a:ext cx="930306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200" b="1" noProof="0" dirty="0" err="1">
                <a:latin typeface="Segoe UI" panose="020B0502040204020203" pitchFamily="34" charset="0"/>
                <a:cs typeface="Segoe UI" panose="020B0502040204020203" pitchFamily="34" charset="0"/>
              </a:rPr>
              <a:t>Mini-projeto</a:t>
            </a:r>
            <a:r>
              <a:rPr lang="pt-BR" sz="3200" b="1" noProof="0" dirty="0">
                <a:latin typeface="Segoe UI" panose="020B0502040204020203" pitchFamily="34" charset="0"/>
                <a:cs typeface="Segoe UI" panose="020B0502040204020203" pitchFamily="34" charset="0"/>
              </a:rPr>
              <a:t> 2</a:t>
            </a:r>
            <a:br>
              <a:rPr lang="pt-BR" sz="3200" b="1" noProof="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pt-BR" sz="3200" b="1" dirty="0">
                <a:latin typeface="Segoe UI" panose="020B0502040204020203" pitchFamily="34" charset="0"/>
                <a:cs typeface="Segoe UI" panose="020B0502040204020203" pitchFamily="34" charset="0"/>
              </a:rPr>
              <a:t>Dashboard Comercial – Performance de Vendas</a:t>
            </a:r>
            <a:endParaRPr lang="pt-BR" sz="3200" b="1" noProof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F079EB7-5C02-4FE2-C9C6-6BFB3DBE6412}"/>
              </a:ext>
            </a:extLst>
          </p:cNvPr>
          <p:cNvSpPr/>
          <p:nvPr/>
        </p:nvSpPr>
        <p:spPr>
          <a:xfrm>
            <a:off x="288000" y="2420663"/>
            <a:ext cx="11616000" cy="4149336"/>
          </a:xfrm>
          <a:prstGeom prst="roundRect">
            <a:avLst/>
          </a:prstGeom>
          <a:solidFill>
            <a:srgbClr val="262B33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4955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77</Words>
  <Application>Microsoft Office PowerPoint</Application>
  <PresentationFormat>Widescreen</PresentationFormat>
  <Paragraphs>13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FELIPE DE CARVALHO</dc:creator>
  <cp:lastModifiedBy>NICOLAS FELIPE DE CARVALHO</cp:lastModifiedBy>
  <cp:revision>7</cp:revision>
  <dcterms:created xsi:type="dcterms:W3CDTF">2025-11-11T16:06:50Z</dcterms:created>
  <dcterms:modified xsi:type="dcterms:W3CDTF">2025-11-16T10:57:37Z</dcterms:modified>
</cp:coreProperties>
</file>